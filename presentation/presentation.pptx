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43D2E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201168" cy="6858000"/>
          </a:xfrm>
          <a:prstGeom prst="rect">
            <a:avLst/>
          </a:prstGeom>
          <a:solidFill>
            <a:srgbClr val="2C7A4B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ACADEMY  ·  NATIONAL AI CENTER  ·  ML FINAL PROJECT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178308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Methods</a:t>
            </a:r>
            <a:endParaRPr lang="en-US" sz="5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C4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Boosting </a:t>
            </a:r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AEB4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</a:t>
            </a:r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2C7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Bagging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24128" y="38862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7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“Under what conditions does boosting outperform bagging, and vice versa — and why?”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" y="5074920"/>
            <a:ext cx="3840480" cy="0"/>
          </a:xfrm>
          <a:prstGeom prst="line">
            <a:avLst/>
          </a:prstGeom>
          <a:noFill/>
          <a:ln w="12700">
            <a:solidFill>
              <a:srgbClr val="3A40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5257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Nadir Askarov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 implementations in NumPy  ·  tag v1.0-final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2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ways to build a strong classifier from weak 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implement three algorithms from scratch, then run a controlled empirical study across three datasets chosen to differ in the ways theory says should matter — dimension, class balance, and class overlap.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529584" cy="2743200"/>
          </a:xfrm>
          <a:prstGeom prst="rect">
            <a:avLst/>
          </a:prstGeom>
          <a:solidFill>
            <a:srgbClr val="262B30"/>
          </a:solidFill>
          <a:ln w="12700">
            <a:solidFill>
              <a:srgbClr val="343A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514600"/>
            <a:ext cx="3529584" cy="100584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2898648"/>
            <a:ext cx="841248" cy="841248"/>
          </a:xfrm>
          <a:prstGeom prst="ellipse">
            <a:avLst/>
          </a:prstGeom>
          <a:solidFill>
            <a:srgbClr val="7F7F7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312724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9264" y="39319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Tree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69264" y="4389120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with exhaustive split search. One weighted-sample-aware class serves all three roles.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80560" y="2514600"/>
            <a:ext cx="3529584" cy="2743200"/>
          </a:xfrm>
          <a:prstGeom prst="rect">
            <a:avLst/>
          </a:prstGeom>
          <a:solidFill>
            <a:srgbClr val="262B30"/>
          </a:solidFill>
          <a:ln w="12700">
            <a:solidFill>
              <a:srgbClr val="343A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80560" y="2514600"/>
            <a:ext cx="3529584" cy="100584"/>
          </a:xfrm>
          <a:prstGeom prst="rect">
            <a:avLst/>
          </a:prstGeom>
          <a:solidFill>
            <a:srgbClr val="C43D2E"/>
          </a:solidFill>
          <a:ln/>
        </p:spPr>
      </p:sp>
      <p:sp>
        <p:nvSpPr>
          <p:cNvPr id="13" name="Shape 10"/>
          <p:cNvSpPr/>
          <p:nvPr/>
        </p:nvSpPr>
        <p:spPr>
          <a:xfrm>
            <a:off x="4809744" y="2898648"/>
            <a:ext cx="841248" cy="841248"/>
          </a:xfrm>
          <a:prstGeom prst="ellipse">
            <a:avLst/>
          </a:prstGeom>
          <a:solidFill>
            <a:srgbClr val="C43D2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312724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09744" y="39319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AdaBoost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809744" y="4389120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SAMME over depth-1 stumps. Re-weights misclassified points each round — attacks bias.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321040" y="2514600"/>
            <a:ext cx="3529584" cy="2743200"/>
          </a:xfrm>
          <a:prstGeom prst="rect">
            <a:avLst/>
          </a:prstGeom>
          <a:solidFill>
            <a:srgbClr val="262B30"/>
          </a:solidFill>
          <a:ln w="12700">
            <a:solidFill>
              <a:srgbClr val="343A4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21040" y="2514600"/>
            <a:ext cx="3529584" cy="100584"/>
          </a:xfrm>
          <a:prstGeom prst="rect">
            <a:avLst/>
          </a:prstGeom>
          <a:solidFill>
            <a:srgbClr val="2C7A4B"/>
          </a:solidFill>
          <a:ln/>
        </p:spPr>
      </p:sp>
      <p:sp>
        <p:nvSpPr>
          <p:cNvPr id="19" name="Shape 15"/>
          <p:cNvSpPr/>
          <p:nvPr/>
        </p:nvSpPr>
        <p:spPr>
          <a:xfrm>
            <a:off x="8650224" y="2898648"/>
            <a:ext cx="841248" cy="841248"/>
          </a:xfrm>
          <a:prstGeom prst="ellipse">
            <a:avLst/>
          </a:prstGeom>
          <a:solidFill>
            <a:srgbClr val="2C7A4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4" y="3127248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50224" y="3931920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650224" y="4389120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over full trees with √p feature subsampling and OOB scoring — attacks variance.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allowed as implementations: </a:t>
            </a:r>
            <a:pPr indent="0" marL="0">
              <a:buNone/>
            </a:pPr>
            <a:r>
              <a:rPr lang="en-US" sz="1250" i="1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sklearn's tree / ensemble classes, xgboost, lightgbm. Used only as sanity-check baselines.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A276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2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error, split two 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578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5257800" cy="822960"/>
          </a:xfrm>
          <a:prstGeom prst="rect">
            <a:avLst/>
          </a:prstGeom>
          <a:solidFill>
            <a:srgbClr val="C43D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6654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7510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BOOSTING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417320" y="230428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3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· corrects mistakes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32688" y="28529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4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LEARNER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606040" y="283464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stump — too rigid to fit much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32688" y="3419856"/>
            <a:ext cx="4672584" cy="0"/>
          </a:xfrm>
          <a:prstGeom prst="line">
            <a:avLst/>
          </a:prstGeom>
          <a:noFill/>
          <a:ln w="12700">
            <a:solidFill>
              <a:srgbClr val="EDEB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351129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4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606040" y="349300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 is biased, not noisy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32688" y="4078224"/>
            <a:ext cx="4672584" cy="0"/>
          </a:xfrm>
          <a:prstGeom prst="line">
            <a:avLst/>
          </a:prstGeom>
          <a:noFill/>
          <a:ln w="12700">
            <a:solidFill>
              <a:srgbClr val="EDEBE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" y="416966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4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606040" y="415137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Re-weight missed points, add votes αₘ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32688" y="4736592"/>
            <a:ext cx="4672584" cy="0"/>
          </a:xfrm>
          <a:prstGeom prst="line">
            <a:avLst/>
          </a:prstGeom>
          <a:noFill/>
          <a:ln w="12700">
            <a:solidFill>
              <a:srgbClr val="EDEBE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2688" y="48280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4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606040" y="480974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 (and variance as a side effect)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932688" y="5394960"/>
            <a:ext cx="4672584" cy="0"/>
          </a:xfrm>
          <a:prstGeom prst="line">
            <a:avLst/>
          </a:prstGeom>
          <a:noFill/>
          <a:ln w="12700">
            <a:solidFill>
              <a:srgbClr val="EDEBE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2688" y="5486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4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WHEN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606040" y="546811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noisy, or the stump is too weak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291072" y="1828800"/>
            <a:ext cx="52578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91072" y="1828800"/>
            <a:ext cx="5257800" cy="822960"/>
          </a:xfrm>
          <a:prstGeom prst="rect">
            <a:avLst/>
          </a:prstGeom>
          <a:solidFill>
            <a:srgbClr val="2C7A4B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66544"/>
            <a:ext cx="347472" cy="34747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068312" y="197510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BAGGING</a:t>
            </a:r>
            <a:endParaRPr lang="en-US" sz="1900" dirty="0"/>
          </a:p>
        </p:txBody>
      </p:sp>
      <p:sp>
        <p:nvSpPr>
          <p:cNvPr id="28" name="Text 24"/>
          <p:cNvSpPr/>
          <p:nvPr/>
        </p:nvSpPr>
        <p:spPr>
          <a:xfrm>
            <a:off x="7068312" y="230428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3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· averages instability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6583680" y="28529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LEARNER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8257032" y="283464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deep, fully-grown tree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6583680" y="3419856"/>
            <a:ext cx="4672584" cy="0"/>
          </a:xfrm>
          <a:prstGeom prst="line">
            <a:avLst/>
          </a:prstGeom>
          <a:noFill/>
          <a:ln w="12700">
            <a:solidFill>
              <a:srgbClr val="EDEBE4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583680" y="351129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8257032" y="349300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 is unstable, not biased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583680" y="4078224"/>
            <a:ext cx="4672584" cy="0"/>
          </a:xfrm>
          <a:prstGeom prst="line">
            <a:avLst/>
          </a:prstGeom>
          <a:noFill/>
          <a:ln w="12700">
            <a:solidFill>
              <a:srgbClr val="EDEBE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583680" y="416966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8257032" y="415137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+ vote; decorrelate with √p</a:t>
            </a:r>
            <a:endParaRPr lang="en-US" sz="1250" dirty="0"/>
          </a:p>
        </p:txBody>
      </p:sp>
      <p:sp>
        <p:nvSpPr>
          <p:cNvPr id="37" name="Shape 33"/>
          <p:cNvSpPr/>
          <p:nvPr/>
        </p:nvSpPr>
        <p:spPr>
          <a:xfrm>
            <a:off x="6583680" y="4736592"/>
            <a:ext cx="4672584" cy="0"/>
          </a:xfrm>
          <a:prstGeom prst="line">
            <a:avLst/>
          </a:prstGeom>
          <a:noFill/>
          <a:ln w="12700">
            <a:solidFill>
              <a:srgbClr val="EDEBE4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583680" y="482803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8257032" y="480974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 (bias is left untouched)</a:t>
            </a:r>
            <a:endParaRPr lang="en-US" sz="1250" dirty="0"/>
          </a:p>
        </p:txBody>
      </p:sp>
      <p:sp>
        <p:nvSpPr>
          <p:cNvPr id="40" name="Shape 36"/>
          <p:cNvSpPr/>
          <p:nvPr/>
        </p:nvSpPr>
        <p:spPr>
          <a:xfrm>
            <a:off x="6583680" y="5394960"/>
            <a:ext cx="4672584" cy="0"/>
          </a:xfrm>
          <a:prstGeom prst="line">
            <a:avLst/>
          </a:prstGeom>
          <a:noFill/>
          <a:ln w="12700">
            <a:solidFill>
              <a:srgbClr val="EDEBE4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583680" y="5486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WHEN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8257032" y="546811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learner is genuinely biased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A276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2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datasets, deliberately different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371600"/>
                <a:gridCol w="1371600"/>
                <a:gridCol w="1280160"/>
                <a:gridCol w="137160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Cancer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37.3%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control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 Income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High-dim, one-hot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9,999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Multi-class, imbalanced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297680"/>
            <a:ext cx="352958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4297680"/>
            <a:ext cx="91440" cy="1600200"/>
          </a:xfrm>
          <a:prstGeom prst="rect">
            <a:avLst/>
          </a:prstGeom>
          <a:solidFill>
            <a:srgbClr val="C43D2E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4553712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0.47%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978408" y="5285232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class on Covertype — 47 of 9,999 rows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80560" y="4297680"/>
            <a:ext cx="352958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4297680"/>
            <a:ext cx="91440" cy="1600200"/>
          </a:xfrm>
          <a:prstGeom prst="rect">
            <a:avLst/>
          </a:prstGeom>
          <a:solidFill>
            <a:srgbClr val="2C7A4B"/>
          </a:solidFill>
          <a:ln/>
        </p:spPr>
      </p:sp>
      <p:sp>
        <p:nvSpPr>
          <p:cNvPr id="12" name="Text 9"/>
          <p:cNvSpPr/>
          <p:nvPr/>
        </p:nvSpPr>
        <p:spPr>
          <a:xfrm>
            <a:off x="4800600" y="4553712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7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104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4818888" y="5285232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on Adult after one-hot encoding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321040" y="4297680"/>
            <a:ext cx="352958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21040" y="4297680"/>
            <a:ext cx="91440" cy="1600200"/>
          </a:xfrm>
          <a:prstGeom prst="rect">
            <a:avLst/>
          </a:prstGeom>
          <a:solidFill>
            <a:srgbClr val="A2761B"/>
          </a:solidFill>
          <a:ln/>
        </p:spPr>
      </p:sp>
      <p:sp>
        <p:nvSpPr>
          <p:cNvPr id="16" name="Text 13"/>
          <p:cNvSpPr/>
          <p:nvPr/>
        </p:nvSpPr>
        <p:spPr>
          <a:xfrm>
            <a:off x="8641080" y="4553712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27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 0.6%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8659368" y="5285232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vs sklearn on the two larger datasets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 is class-stratified, so imbalance survives subsampling; the ranking between models is unaffected.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A276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2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 · EXPERIMENT 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Bias–variance: the mechanism, isolated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875224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c:/Users/nadir2006/Desktop/Ensemble-Methods/figures/exp6_bias_variance_breast_canc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5600904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705856"/>
            <a:ext cx="560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bootstrap replicates · Breast Cancer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881064" y="1965960"/>
            <a:ext cx="82296" cy="1234440"/>
          </a:xfrm>
          <a:prstGeom prst="rect">
            <a:avLst/>
          </a:prstGeom>
          <a:solidFill>
            <a:srgbClr val="2C7A4B"/>
          </a:solidFill>
          <a:ln/>
        </p:spPr>
      </p:sp>
      <p:sp>
        <p:nvSpPr>
          <p:cNvPr id="9" name="Text 6"/>
          <p:cNvSpPr/>
          <p:nvPr/>
        </p:nvSpPr>
        <p:spPr>
          <a:xfrm>
            <a:off x="7137096" y="1965960"/>
            <a:ext cx="44145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Bagging leaves bias untouched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137096" y="2423160"/>
            <a:ext cx="44145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identical to a single tree — 0.0265, exactly — while variance falls 64% (0.0642 → 0.0234).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81064" y="3383280"/>
            <a:ext cx="82296" cy="1234440"/>
          </a:xfrm>
          <a:prstGeom prst="rect">
            <a:avLst/>
          </a:prstGeom>
          <a:solidFill>
            <a:srgbClr val="C43D2E"/>
          </a:solidFill>
          <a:ln/>
        </p:spPr>
      </p:sp>
      <p:sp>
        <p:nvSpPr>
          <p:cNvPr id="12" name="Text 9"/>
          <p:cNvSpPr/>
          <p:nvPr/>
        </p:nvSpPr>
        <p:spPr>
          <a:xfrm>
            <a:off x="7137096" y="3383280"/>
            <a:ext cx="44145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Boosting is the only bias-reducer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137096" y="3840480"/>
            <a:ext cx="44145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0.0265 → 0.0177, a 33% cut, and it damps variance too (0.0235).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881064" y="4800600"/>
            <a:ext cx="82296" cy="1234440"/>
          </a:xfrm>
          <a:prstGeom prst="rect">
            <a:avLst/>
          </a:prstGeom>
          <a:solidFill>
            <a:srgbClr val="1E2226"/>
          </a:solidFill>
          <a:ln/>
        </p:spPr>
      </p:sp>
      <p:sp>
        <p:nvSpPr>
          <p:cNvPr id="15" name="Text 12"/>
          <p:cNvSpPr/>
          <p:nvPr/>
        </p:nvSpPr>
        <p:spPr>
          <a:xfrm>
            <a:off x="7137096" y="4800600"/>
            <a:ext cx="44145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predicts everything else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137096" y="5257800"/>
            <a:ext cx="44145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when bias is the binding constraint; loses when the mechanism chases noise.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A276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2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4 · 5-FOLD CV, 100 ESTIMATORS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Head-to-head: often a tie, sometimes not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4523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148840"/>
                <a:gridCol w="1371600"/>
                <a:gridCol w="1371600"/>
                <a:gridCol w="13258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6"/>
                    </a:solidFill>
                  </a:tcPr>
                </a:tc>
              </a:tr>
              <a:tr h="384048">
                <a:tc row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4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4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4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4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C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 row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C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4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C"/>
                    </a:solidFill>
                  </a:tcPr>
                </a:tc>
              </a:tr>
              <a:tr h="384048">
                <a:tc row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43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C"/>
                    </a:solidFill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2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366760" y="1874520"/>
            <a:ext cx="3276295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366760" y="1874520"/>
            <a:ext cx="82296" cy="1298448"/>
          </a:xfrm>
          <a:prstGeom prst="rect">
            <a:avLst/>
          </a:prstGeom>
          <a:solidFill>
            <a:srgbClr val="C43D2E"/>
          </a:solidFill>
          <a:ln/>
        </p:spPr>
      </p:sp>
      <p:sp>
        <p:nvSpPr>
          <p:cNvPr id="8" name="Text 5"/>
          <p:cNvSpPr/>
          <p:nvPr/>
        </p:nvSpPr>
        <p:spPr>
          <a:xfrm>
            <a:off x="8595360" y="2020824"/>
            <a:ext cx="2910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232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Boosting wins clean &amp; balanced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595360" y="2551176"/>
            <a:ext cx="2910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Cancer: 0.975 vs 0.960.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366760" y="3337560"/>
            <a:ext cx="3276295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366760" y="3337560"/>
            <a:ext cx="82296" cy="1298448"/>
          </a:xfrm>
          <a:prstGeom prst="rect">
            <a:avLst/>
          </a:prstGeom>
          <a:solidFill>
            <a:srgbClr val="6A7078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0" y="3483864"/>
            <a:ext cx="2910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232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Usually indistinguishable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595360" y="4014216"/>
            <a:ext cx="2910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differs by 0.0005 — inside fold-to-fold σ ≈ 0.01.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366760" y="4800600"/>
            <a:ext cx="3276295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66760" y="4800600"/>
            <a:ext cx="82296" cy="1298448"/>
          </a:xfrm>
          <a:prstGeom prst="rect">
            <a:avLst/>
          </a:prstGeom>
          <a:solidFill>
            <a:srgbClr val="2C7A4B"/>
          </a:solidFill>
          <a:ln/>
        </p:spPr>
      </p:sp>
      <p:sp>
        <p:nvSpPr>
          <p:cNvPr id="16" name="Text 13"/>
          <p:cNvSpPr/>
          <p:nvPr/>
        </p:nvSpPr>
        <p:spPr>
          <a:xfrm>
            <a:off x="8595360" y="4946904"/>
            <a:ext cx="2910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232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Bagging wins multi-class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595360" y="5477256"/>
            <a:ext cx="2910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Covertype: AdaBoost (0.589) falls below a single tree; RF wins at 0.733.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3550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best in group. sklearn's forest (not shown) tracks ours within 0.9 pts.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A276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2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5 · KEY RESULT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label noise, the philosophies split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29342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c:/Users/nadir2006/Desktop/Ensemble-Methods/figures/exp5_noise_robustness_breast_canc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4955022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614416"/>
            <a:ext cx="49550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labels flipped; evaluated on the clean test set · Breast Cancer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235182" y="1920240"/>
            <a:ext cx="5316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lost at 20% noise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35182" y="2331720"/>
            <a:ext cx="531643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35182" y="2331720"/>
            <a:ext cx="91440" cy="1005840"/>
          </a:xfrm>
          <a:prstGeom prst="rect">
            <a:avLst/>
          </a:prstGeom>
          <a:solidFill>
            <a:srgbClr val="2C7A4B"/>
          </a:solidFill>
          <a:ln/>
        </p:spPr>
      </p:sp>
      <p:sp>
        <p:nvSpPr>
          <p:cNvPr id="11" name="Text 8"/>
          <p:cNvSpPr/>
          <p:nvPr/>
        </p:nvSpPr>
        <p:spPr>
          <a:xfrm>
            <a:off x="6491214" y="245059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7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 pt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8566902" y="2331720"/>
            <a:ext cx="28475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barely moves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35182" y="3474720"/>
            <a:ext cx="531643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35182" y="3474720"/>
            <a:ext cx="91440" cy="1005840"/>
          </a:xfrm>
          <a:prstGeom prst="rect">
            <a:avLst/>
          </a:prstGeom>
          <a:solidFill>
            <a:srgbClr val="C43D2E"/>
          </a:solidFill>
          <a:ln/>
        </p:spPr>
      </p:sp>
      <p:sp>
        <p:nvSpPr>
          <p:cNvPr id="15" name="Text 12"/>
          <p:cNvSpPr/>
          <p:nvPr/>
        </p:nvSpPr>
        <p:spPr>
          <a:xfrm>
            <a:off x="6491214" y="359359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4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 pt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8566902" y="3474720"/>
            <a:ext cx="28475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— ~7× more sensitive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235182" y="4663440"/>
            <a:ext cx="53164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C4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 update can't tell a hard example from a mislabelled one, so AdaBoost spends late rounds fitting the corrupted points. Bagging just averages them away.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A276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2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2 &amp; 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each ensemble scales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578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5257800" cy="82296"/>
          </a:xfrm>
          <a:prstGeom prst="rect">
            <a:avLst/>
          </a:prstGeom>
          <a:solidFill>
            <a:srgbClr val="C43D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AdaBoost overfits — mildly, late</a:t>
            </a:r>
            <a:endParaRPr lang="en-US" sz="1600" dirty="0"/>
          </a:p>
        </p:txBody>
      </p:sp>
      <p:pic>
        <p:nvPicPr>
          <p:cNvPr id="8" name="Image 0" descr="c:/Users/nadir2006/Desktop/Ensemble-Methods/figures/exp2_adaboost_scaling_breast_canc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491" y="2514600"/>
            <a:ext cx="3620977" cy="2606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52120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error → 0; test error flattens early, then drifts up slightly. Rounds aren't a delicate knob on clean data.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45352" y="1828800"/>
            <a:ext cx="525780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45352" y="1828800"/>
            <a:ext cx="5257800" cy="82296"/>
          </a:xfrm>
          <a:prstGeom prst="rect">
            <a:avLst/>
          </a:prstGeom>
          <a:solidFill>
            <a:srgbClr val="2C7A4B"/>
          </a:solidFill>
          <a:ln/>
        </p:spPr>
      </p:sp>
      <p:sp>
        <p:nvSpPr>
          <p:cNvPr id="12" name="Text 9"/>
          <p:cNvSpPr/>
          <p:nvPr/>
        </p:nvSpPr>
        <p:spPr>
          <a:xfrm>
            <a:off x="6519672" y="201168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 just converges</a:t>
            </a:r>
            <a:endParaRPr lang="en-US" sz="1600" dirty="0"/>
          </a:p>
        </p:txBody>
      </p:sp>
      <p:pic>
        <p:nvPicPr>
          <p:cNvPr id="13" name="Image 1" descr="c:/Users/nadir2006/Desktop/Ensemble-Methods/figures/exp3_rf_n_estimators_breast_canc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763" y="2514600"/>
            <a:ext cx="3620977" cy="2606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19672" y="52120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plateaus after ~50 trees; more never hurt. OOB tracks test from a pessimistic direction — free validation.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A276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2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7 · PCA / K-MEANS / DBSCAN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clusters predict classifier performance?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26680" cy="3283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c:/Users/nadir2006/Desktop/Ensemble-Methods/figures/exp7_pca_scatter_breast_canc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7452360" cy="2716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774240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two PCs of Breast Cancer — true class, K-Means (k=2), DBSCAN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732520" y="1965960"/>
            <a:ext cx="2819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ARI ranks the datasets…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732520" y="2331720"/>
            <a:ext cx="2819095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32520" y="2331720"/>
            <a:ext cx="73152" cy="512064"/>
          </a:xfrm>
          <a:prstGeom prst="rect">
            <a:avLst/>
          </a:prstGeom>
          <a:solidFill>
            <a:srgbClr val="2C7A4B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0" y="2331720"/>
            <a:ext cx="14474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362895" y="2331720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C7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0.671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732520" y="2935224"/>
            <a:ext cx="2819095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32520" y="2935224"/>
            <a:ext cx="73152" cy="512064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5" name="Text 12"/>
          <p:cNvSpPr/>
          <p:nvPr/>
        </p:nvSpPr>
        <p:spPr>
          <a:xfrm>
            <a:off x="8961120" y="2935224"/>
            <a:ext cx="14474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362895" y="2935224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F7F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0.187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732520" y="3538728"/>
            <a:ext cx="2819095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732520" y="3538728"/>
            <a:ext cx="73152" cy="512064"/>
          </a:xfrm>
          <a:prstGeom prst="rect">
            <a:avLst/>
          </a:prstGeom>
          <a:solidFill>
            <a:srgbClr val="C43D2E"/>
          </a:solidFill>
          <a:ln/>
        </p:spPr>
      </p:sp>
      <p:sp>
        <p:nvSpPr>
          <p:cNvPr id="19" name="Text 16"/>
          <p:cNvSpPr/>
          <p:nvPr/>
        </p:nvSpPr>
        <p:spPr>
          <a:xfrm>
            <a:off x="8961120" y="3538728"/>
            <a:ext cx="14474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Covertype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362895" y="3538728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43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0.099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732520" y="4297680"/>
            <a:ext cx="28190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23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…in the same order accuracy does.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is one-directional: high ARI predicts easy classification, but low ARI does not predict hard.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43D2E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201168" cy="6858000"/>
          </a:xfrm>
          <a:prstGeom prst="rect">
            <a:avLst/>
          </a:prstGeom>
          <a:solidFill>
            <a:srgbClr val="2C7A4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A2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depends — and predictably so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7818120" cy="1207008"/>
          </a:xfrm>
          <a:prstGeom prst="rect">
            <a:avLst/>
          </a:prstGeom>
          <a:solidFill>
            <a:srgbClr val="262B30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91440" cy="1207008"/>
          </a:xfrm>
          <a:prstGeom prst="rect">
            <a:avLst/>
          </a:prstGeom>
          <a:solidFill>
            <a:srgbClr val="C43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2084832"/>
            <a:ext cx="603504" cy="603504"/>
          </a:xfrm>
          <a:prstGeom prst="ellipse">
            <a:avLst/>
          </a:prstGeom>
          <a:solidFill>
            <a:srgbClr val="C43D2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224028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20240" y="19476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Boosting wins on clean, balanced, low-dimensional data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920240" y="240487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stump's bias is the binding constraint and labels are trustworthy — Breast Cancer, 0.975 vs 0.960.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3136392"/>
            <a:ext cx="7818120" cy="1207008"/>
          </a:xfrm>
          <a:prstGeom prst="rect">
            <a:avLst/>
          </a:prstGeom>
          <a:solidFill>
            <a:srgbClr val="262B30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3136392"/>
            <a:ext cx="91440" cy="1207008"/>
          </a:xfrm>
          <a:prstGeom prst="rect">
            <a:avLst/>
          </a:prstGeom>
          <a:solidFill>
            <a:srgbClr val="2C7A4B"/>
          </a:solidFill>
          <a:ln/>
        </p:spPr>
      </p:sp>
      <p:sp>
        <p:nvSpPr>
          <p:cNvPr id="14" name="Shape 11"/>
          <p:cNvSpPr/>
          <p:nvPr/>
        </p:nvSpPr>
        <p:spPr>
          <a:xfrm>
            <a:off x="1097280" y="3438144"/>
            <a:ext cx="603504" cy="603504"/>
          </a:xfrm>
          <a:prstGeom prst="ellipse">
            <a:avLst/>
          </a:prstGeom>
          <a:solidFill>
            <a:srgbClr val="2C7A4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3593592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20240" y="330098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Bagging wins under noise or when the learner is too weak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1920240" y="375818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pts lost to AdaBoost's 6.2 under 20% noise; and it beats a stump-based ensemble outright on 7-class Covertype.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2960" y="4489704"/>
            <a:ext cx="7818120" cy="1207008"/>
          </a:xfrm>
          <a:prstGeom prst="rect">
            <a:avLst/>
          </a:prstGeom>
          <a:solidFill>
            <a:srgbClr val="262B30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2960" y="4489704"/>
            <a:ext cx="91440" cy="1207008"/>
          </a:xfrm>
          <a:prstGeom prst="rect">
            <a:avLst/>
          </a:prstGeom>
          <a:solidFill>
            <a:srgbClr val="A2761B"/>
          </a:solidFill>
          <a:ln/>
        </p:spPr>
      </p:sp>
      <p:sp>
        <p:nvSpPr>
          <p:cNvPr id="20" name="Shape 16"/>
          <p:cNvSpPr/>
          <p:nvPr/>
        </p:nvSpPr>
        <p:spPr>
          <a:xfrm>
            <a:off x="1097280" y="4791456"/>
            <a:ext cx="603504" cy="603504"/>
          </a:xfrm>
          <a:prstGeom prst="ellipse">
            <a:avLst/>
          </a:prstGeom>
          <a:solidFill>
            <a:srgbClr val="A2761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4946904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920240" y="465429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of the time, it barely matters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1920240" y="51114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Adult the two differ by 0.0005. They don't rank — they fail differently, in the directions bias–variance predicts.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915400" y="1783080"/>
            <a:ext cx="2727655" cy="2514600"/>
          </a:xfrm>
          <a:prstGeom prst="rect">
            <a:avLst/>
          </a:prstGeom>
          <a:solidFill>
            <a:srgbClr val="2C7A4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201168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89720" y="2560320"/>
            <a:ext cx="2179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E7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forced to pick one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9189720" y="2880360"/>
            <a:ext cx="2179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2400" dirty="0"/>
          </a:p>
        </p:txBody>
      </p:sp>
      <p:sp>
        <p:nvSpPr>
          <p:cNvPr id="28" name="Text 22"/>
          <p:cNvSpPr/>
          <p:nvPr/>
        </p:nvSpPr>
        <p:spPr>
          <a:xfrm>
            <a:off x="9189720" y="3429000"/>
            <a:ext cx="2179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7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it won more — because its failure mode is graceful: no overfitting as trees grow, and free OOB validation.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8915400" y="4480560"/>
            <a:ext cx="2727655" cy="1261872"/>
          </a:xfrm>
          <a:prstGeom prst="rect">
            <a:avLst/>
          </a:prstGeom>
          <a:solidFill>
            <a:srgbClr val="262B30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189720" y="4617720"/>
            <a:ext cx="2179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7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189720" y="4892040"/>
            <a:ext cx="2179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class-weight treatment on Covertype · Gradient Boosting · t-SNE vs PCA on Adult.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Nadir Askarov  ·  AI Academy 2026  ·  Every number reproducible via run_all.py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Ensemble Methods: Boosting vs. Bagging</dc:title>
  <dc:subject>PptxGenJS Presentation</dc:subject>
  <dc:creator>Nadir Askarov</dc:creator>
  <cp:lastModifiedBy>Nadir Askarov</cp:lastModifiedBy>
  <cp:revision>1</cp:revision>
  <dcterms:created xsi:type="dcterms:W3CDTF">2026-07-16T12:44:54Z</dcterms:created>
  <dcterms:modified xsi:type="dcterms:W3CDTF">2026-07-16T12:44:54Z</dcterms:modified>
</cp:coreProperties>
</file>